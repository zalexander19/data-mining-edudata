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E6DA4"/>
                </a:solidFill>
                <a:latin typeface="Calibri"/>
              </a:rPr>
              <a:t>FACULTAD DE INGENIERÍA Y ARQUITECTURA · INGENIERÍA CIVIL EN COMPUTACIÓN E INFORMÁTICA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1F4E79"/>
                </a:solidFill>
                <a:latin typeface="Calibri Light"/>
              </a:rPr>
              <a:t>Detección Temprana de Reprobación</a:t>
            </a:r>
          </a:p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1F4E79"/>
                </a:solidFill>
                <a:latin typeface="Calibri Light"/>
              </a:rPr>
              <a:t>y Segmentación de Estudiantes</a:t>
            </a:r>
          </a:p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606060"/>
                </a:solidFill>
                <a:latin typeface="Calibri"/>
              </a:rPr>
              <a:t>Proyecto de Minería de Datos — EduData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Integrantes:  Alexander Farías · Joaquín Ortiz · Benjamín Muñoz · Amin Carrizo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606060"/>
                </a:solidFill>
                <a:latin typeface="Calibri"/>
              </a:rPr>
              <a:t>Docente: Francisco García B.   ·   Inteligencia de Negocios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Calibri"/>
              </a:rPr>
              <a:t>Iquique, Chile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El 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La deserción y la reprobación estudiantil son uno de los principales desafíos de las instituciones educativas.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Representan un costo económico directo (matrículas, recursos) y un costo social (oportunidades del estudiante).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EduData Analytics: institución de carácter mixto — formación presencial + plataforma virtual de aprendizaje.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Registra gran cantidad de datos sobre hábitos, conducta y contexto de sus estudiantes…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50" b="0" i="0">
                <a:solidFill>
                  <a:srgbClr val="606060"/>
                </a:solidFill>
                <a:latin typeface="Calibri"/>
              </a:rPr>
              <a:t>–  …pero esa información no se aprovecha para anticipar el riesgo académico.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Oportunidad: aplicar Minería de Datos para actuar antes de que el estudiante repruebe.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El problema a resolver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Cerca del 40 % de los estudiantes reprueba o abandona antes de la evaluación final.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Los datos existen, pero no se usan para anticipar quién está en riesgo.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Sin foco: los programas de apoyo no saben a quién dirigirse ni con qué intervención.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 i="0">
                <a:solidFill>
                  <a:srgbClr val="222222"/>
                </a:solidFill>
                <a:latin typeface="Calibri"/>
              </a:rPr>
              <a:t>▪  El proyecto busca responder dos preguntas: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50" b="0" i="0">
                <a:solidFill>
                  <a:srgbClr val="606060"/>
                </a:solidFill>
                <a:latin typeface="Calibri"/>
              </a:rPr>
              <a:t>–  ¿Quién está en riesgo de reprobar? (tarea predictiva)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50" b="0" i="0">
                <a:solidFill>
                  <a:srgbClr val="606060"/>
                </a:solidFill>
                <a:latin typeface="Calibri"/>
              </a:rPr>
              <a:t>–  ¿Qué perfiles de estudiantes existen y cómo intervenirlos? (tarea descriptiva)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4800600"/>
            <a:ext cx="356616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4892040"/>
            <a:ext cx="3566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1" i="0">
                <a:solidFill>
                  <a:srgbClr val="D95F0E"/>
                </a:solidFill>
                <a:latin typeface="Calibri"/>
              </a:rPr>
              <a:t>39,8 %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06060"/>
                </a:solidFill>
                <a:latin typeface="Calibri"/>
              </a:rPr>
              <a:t>de los estudiantes reprueba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OBJETIVOS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Qué espera la institución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Objetivo de negocio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Reducir la tasa de reprobación (hoy 39,8 %) mediante la identificación temprana del riesgo y la caracterización de perfiles, focalizando los programas de apoyo en quienes más lo necesitan.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Objetivos específicos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▪  ON-01 — Anticipar, antes de la evaluación final, qué estudiantes tienen alta probabilidad de reprobar.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▪  ON-02 — Comprender qué factores (hábitos, asistencia, motivación…) se asocian al rendimiento.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▪  ON-03 — Segmentar a los estudiantes en perfiles homogéneos para diseñar intervenciones personalizadas.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OBJETIVOS DE MINERÍA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Dos tareas, criterios medibles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4924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4924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PREDICTIVA · Clasificación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06040"/>
            <a:ext cx="4892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Predecir si el estudiante aprueba o reprueba (pass_fail) a partir de sus hábitos.</a:t>
            </a:r>
          </a:p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Algoritmos comparados: Árbol de decisión C4.5  vs.  Naïve Bayes.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70916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Criterio de éxito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Exactitud ≥ 80 %  y  recall de la clase "Reprueba" ≥ 75 %  en el conjunto de prueba.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34924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566928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01952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DESCRIPTIVA · Agrupamiento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06040"/>
            <a:ext cx="4892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Segmentar a los estudiantes en perfiles según sus hábitos.</a:t>
            </a:r>
          </a:p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Algoritmos comparados: K-Means  vs.  K-Medoids (CLARA).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70916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D95F0E"/>
                </a:solidFill>
                <a:latin typeface="Calibri"/>
              </a:rPr>
              <a:t>Criterio de éxito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Al menos 3 grupos diferenciables e interpretables en términos del negocio.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ENTENDIMIENTO DE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El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7665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Fuente: repositorio público Kaggle — "300K Student Performance Prediction Dataset" (licencia Apache 2.0).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Volumen: 300.000 registros × 25 atributos. Cada fila = un estudiante.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Tipos: variables numéricas (continuas y discretas) y categóricas (nominales y ordinales).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Variable objetivo: pass_fail (aprueba/reprueba), derivada de la nota final (umbral 50).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Segmento de análisis: población escolar de 15 a 18 años.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828800"/>
            <a:ext cx="3931920" cy="4114800"/>
          </a:xfrm>
          <a:prstGeom prst="rect">
            <a:avLst/>
          </a:prstGeom>
          <a:solidFill>
            <a:srgbClr val="F4F6F9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965960"/>
            <a:ext cx="352044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6DA4"/>
                </a:solidFill>
                <a:latin typeface="Calibri"/>
              </a:rPr>
              <a:t>Grupos de variables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•  Hábitos de estudio (horas, tareas, ensayos, apuntes…)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•  Organización y ánimo (gestión del tiempo, motivación, salud mental)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•  Estilo de vida (sueño, pantalla, redes sociales)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•  Contexto socioeconómico (ingreso, educación padres, internet…)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•  Resultado (nota final, categoría, aprobación)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06060"/>
                </a:solidFill>
                <a:latin typeface="Calibri"/>
              </a:rPr>
              <a:t>Nota: los datos son sintéticos → las conclusiones validan la metodología; requieren un piloto con datos reales.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ANÁLISIS EXPLORATORIO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Problemas detectados en las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Edad: distribución uniforme (15–21) y correlación 0,00 con la nota → no predice; solo se usa para acotar población.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Picos por recorte (clipping): asistencia = 100 % (6,6 %) y tareas = 10 (16 %) → artefactos de la generación sintética.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4 registros con nota 0 y categoría vacía → errores de carga (se eliminan en la limpieza).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Variables conductuales independientes entre sí (correlaciones ≈ 0) → sin subgrupos naturales.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Calidad general alta: sin duplicados, sin nulos reales (salvo 4), atípicos solo 0,3 – 0,7 % por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VERIFICACIÓN POST-ETL (EDA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Antes y después de la preparación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a2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26" y="1737360"/>
            <a:ext cx="10087667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El filtro por edad no alteró materialmente las distribuciones (medias y desviaciones se conservan) y la proporción de la clase Fail se mantiene (39,76 % → 39,82 %): la vista minable queda apta para modelar.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PREPARACIÓN DE DATOS (ETL)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Del dato crudo a la vista minable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Selección de registros: filtro por edad 15–18 (población escolar) → 300.000 a 171.334 (−42,9 %).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Limpieza: eliminación de los 4 registros erróneos (nota 0); sin duplicados ni nulos remanentes.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Selección de atributos — se excluyen: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0" i="0">
                <a:solidFill>
                  <a:srgbClr val="606060"/>
                </a:solidFill>
                <a:latin typeface="Calibri"/>
              </a:rPr>
              <a:t>–  student_id (identificador); final_grade y grade_category (fuga de información con el objetivo)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0" i="0">
                <a:solidFill>
                  <a:srgbClr val="606060"/>
                </a:solidFill>
                <a:latin typeface="Calibri"/>
              </a:rPr>
              <a:t>–  previous_grade (decisión metodológica: para medir el impacto de los hábitos, no del historial)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Transformación: normalización Min-Max [0,1] (solo clustering) y codificación de categóricas (ordinal / binaria / one-hot).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Balanceo: submuestreo 50/50 solo en el entrenamiento; validación y prueba conservan la distribución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VISTAS MINABLES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Ejemplos: antes y después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m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43" y="1691640"/>
            <a:ext cx="4744834" cy="1417320"/>
          </a:xfrm>
          <a:prstGeom prst="rect">
            <a:avLst/>
          </a:prstGeom>
        </p:spPr>
      </p:pic>
      <p:pic>
        <p:nvPicPr>
          <p:cNvPr id="7" name="Picture 6" descr="vm_clasifi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838" y="3200400"/>
            <a:ext cx="4583844" cy="1371600"/>
          </a:xfrm>
          <a:prstGeom prst="rect">
            <a:avLst/>
          </a:prstGeom>
        </p:spPr>
      </p:pic>
      <p:pic>
        <p:nvPicPr>
          <p:cNvPr id="8" name="Picture 7" descr="vm_cluste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838" y="4709160"/>
            <a:ext cx="4583844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MODELAMIENTO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Enfoque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8580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Dos tareas, según la pauta: una predictiva (clasificación) y una descriptiva (agrupamiento).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Dos algoritmos por tarea, para comparar resultados y elegir el mejor.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Herramientas: Python / scikit-learn (modelos definitivos), KNIME (ETL), Weka y Orange (prototipo).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Reproducibilidad: todo el pipeline en scripts con semilla fija (42).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▪  Fase "Modelado" de CRISP-DM: selección de técnica → diseño de test → construcción → evaluación.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3794760" cy="4023360"/>
          </a:xfrm>
          <a:prstGeom prst="rect">
            <a:avLst/>
          </a:prstGeom>
          <a:solidFill>
            <a:srgbClr val="F4F6F9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011680"/>
            <a:ext cx="33832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Predictiva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Árbol C4.5  ·  Naïve Bayes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D95F0E"/>
                </a:solidFill>
                <a:latin typeface="Calibri"/>
              </a:rPr>
              <a:t>Descriptiva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K-Means  ·  K-Medoids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Entregable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Predictiva → sistema
Descriptiva → informe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TAREA PREDICTIVA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Técnicas y qué exigen de los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4924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83664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Árbol de decisión C4.5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5349240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892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Divide y vencerás por ganancia de información (entropía).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Altamente interpretable: se lee como reglas de negocio.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Sin supuestos distribucionales; no requiere normalizar.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Sensible al desbalance → se entrena balanceado.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49240" cy="54864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83664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Naïve Bayes mixto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5349240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542032"/>
            <a:ext cx="4892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Probabilístico: entrega P(reprobar) por estudiante.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Supone independencia entre atributos → verificada (correlaciones ≈ 0).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Normalidad por clase → verificada en el EDA.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•  Rápido y robusto frente a atributos irrelevantes.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606060"/>
                </a:solidFill>
                <a:latin typeface="Calibri"/>
              </a:rPr>
              <a:t>Predictores: 20 variables de hábitos y contexto — sin la nota final ni la nota previa.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TAREA PREDICTIVA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Configuración e hiperparámetros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50" b="1" i="0">
                <a:solidFill>
                  <a:srgbClr val="222222"/>
                </a:solidFill>
                <a:latin typeface="Calibri"/>
              </a:rPr>
              <a:t>▪  División estratificada 70 / 15 / 15 (semilla 42): entrenamiento 119.933 · validación 25.700 · prueba 25.701.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606060"/>
                </a:solidFill>
                <a:latin typeface="Calibri"/>
              </a:rPr>
              <a:t>–  Cada subconjunto conserva la misma proporción de clases (39,82 % Fail).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50" b="1" i="0">
                <a:solidFill>
                  <a:srgbClr val="222222"/>
                </a:solidFill>
                <a:latin typeface="Calibri"/>
              </a:rPr>
              <a:t>▪  Balanceo: submuestreo 50/50 aplicado solo al entrenamiento.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50" b="1" i="0">
                <a:solidFill>
                  <a:srgbClr val="222222"/>
                </a:solidFill>
                <a:latin typeface="Calibri"/>
              </a:rPr>
              <a:t>▪  Árbol: búsqueda en malla de 112 configuraciones → profundidad 16, mínimo 50 casos por hoja, criterio entropía.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50" b="1" i="0">
                <a:solidFill>
                  <a:srgbClr val="222222"/>
                </a:solidFill>
                <a:latin typeface="Calibri"/>
              </a:rPr>
              <a:t>▪  Naïve Bayes: malla de 27 configuraciones → var_smoothing 1e-9, α (Laplace) 0,1.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50" b="1" i="0">
                <a:solidFill>
                  <a:srgbClr val="222222"/>
                </a:solidFill>
                <a:latin typeface="Calibri"/>
              </a:rPr>
              <a:t>▪  Validación cruzada de 5 pliegues (re-muestreada dentro de cada pliegue, sin fuga).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TAREA PREDICTIVA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Evaluación y comparación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5486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</a:tblGrid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Métrica (conjunto de prueba)</a:t>
                      </a:r>
                    </a:p>
                  </a:txBody>
                  <a:tcPr marL="73152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Árbol C4.5</a:t>
                      </a:r>
                    </a:p>
                  </a:txBody>
                  <a:tcPr marL="73152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Naïve Bayes</a:t>
                      </a:r>
                    </a:p>
                  </a:txBody>
                  <a:tcPr marL="73152" marR="54864" marT="27432" marB="27432" anchor="ctr">
                    <a:solidFill>
                      <a:srgbClr val="1F4E7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Exactitud (accuracy)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73,3 %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95F0E"/>
                          </a:solidFill>
                          <a:latin typeface="Calibri"/>
                        </a:rPr>
                        <a:t>80,2 %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Recall clase Fail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74,4 %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95F0E"/>
                          </a:solidFill>
                          <a:latin typeface="Calibri"/>
                        </a:rPr>
                        <a:t>81,2 %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Precisión clase Fail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64,2 %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95F0E"/>
                          </a:solidFill>
                          <a:latin typeface="Calibri"/>
                        </a:rPr>
                        <a:t>72,4 %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F1 clase Fail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68,9 %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95F0E"/>
                          </a:solidFill>
                          <a:latin typeface="Calibri"/>
                        </a:rPr>
                        <a:t>76,5 %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Kappa de Cohen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0,457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95F0E"/>
                          </a:solidFill>
                          <a:latin typeface="Calibri"/>
                        </a:rPr>
                        <a:t>0,595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Calibri"/>
                        </a:rPr>
                        <a:t>0,81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D95F0E"/>
                          </a:solidFill>
                          <a:latin typeface="Calibri"/>
                        </a:rPr>
                        <a:t>0,89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lasificacion_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98612"/>
            <a:ext cx="5486400" cy="2495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Modelo elegido: Naïve Bayes — cumple ambos criterios (≥ 80 % y ≥ 75 %). Gana porque los datos son aditivos e independientes, exactamente su supuesto: el ajuste entre algoritmo y datos pesó más que la sofisticación.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TAREA DESCRIPTIVA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Enfoque del agrupamiento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1" i="0">
                <a:solidFill>
                  <a:srgbClr val="222222"/>
                </a:solidFill>
                <a:latin typeface="Calibri"/>
              </a:rPr>
              <a:t>▪  Objetivo: segmentar a los estudiantes en perfiles accionables (ON-03).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1" i="0">
                <a:solidFill>
                  <a:srgbClr val="222222"/>
                </a:solidFill>
                <a:latin typeface="Calibri"/>
              </a:rPr>
              <a:t>▪  Algoritmos comparados: K-Means y K-Medoids (CLARA), con k = 4 grupos.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1" i="0">
                <a:solidFill>
                  <a:srgbClr val="222222"/>
                </a:solidFill>
                <a:latin typeface="Calibri"/>
              </a:rPr>
              <a:t>▪  Se agrupa usando SOLO los 12 hábitos conductuales — sin edad y sin ninguna nota.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1" i="0">
                <a:solidFill>
                  <a:srgbClr val="222222"/>
                </a:solidFill>
                <a:latin typeface="Calibri"/>
              </a:rPr>
              <a:t>▪  Las calificaciones se reservan para validar los grupos después (nunca entran al algoritmo).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1" i="0">
                <a:solidFill>
                  <a:srgbClr val="222222"/>
                </a:solidFill>
                <a:latin typeface="Calibri"/>
              </a:rPr>
              <a:t>▪  Vista minable conductual: 171.334 estudiantes × 12 variables normalizadas.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TAREA DESCRIPTIVA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¿Existen grupos naturales? (test de Hopkins)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Hipótesis del EDA: variables independientes + unimodales → poca tendencia a agruparse.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Se verifica ANTES de modelar con el estadístico de Hopkins = 0,67.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Calibrado: nube única 0,68 · 4 grupos reales 0,86 · uniforme 0,50 → no hay clusters naturales.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Decisión informada: se agrupa igual (ON-03 lo requiere), como partición operativa validada por resultado.</a:t>
            </a:r>
          </a:p>
        </p:txBody>
      </p:sp>
      <p:pic>
        <p:nvPicPr>
          <p:cNvPr id="7" name="Picture 6" descr="fig_5_1_hopk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943041"/>
            <a:ext cx="5577840" cy="20691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TAREA DESCRIPTIVA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Los 4 perfiles encontrados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05840"/>
                <a:gridCol w="100584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Perfil</a:t>
                      </a:r>
                    </a:p>
                  </a:txBody>
                  <a:tcPr marL="73152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% alumnado</a:t>
                      </a:r>
                    </a:p>
                  </a:txBody>
                  <a:tcPr marL="73152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% reprueba</a:t>
                      </a:r>
                    </a:p>
                  </a:txBody>
                  <a:tcPr marL="73152" marR="54864" marT="27432" marB="27432" anchor="ctr">
                    <a:solidFill>
                      <a:srgbClr val="1F4E7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G1 · Alto desempeño autónomo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26,4 %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18,0 %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G0 · Riesgo gestión del tiempo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25,5 %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46,7 %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G2 · Riesgo apuntes deficientes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24,2 %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Calibri"/>
                        </a:rPr>
                        <a:t>44,7 %</a:t>
                      </a:r>
                    </a:p>
                  </a:txBody>
                  <a:tcPr marL="73152" marR="54864" marT="27432" marB="27432"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D95F0E"/>
                          </a:solidFill>
                          <a:latin typeface="Calibri"/>
                        </a:rPr>
                        <a:t>G3 · Riesgo desmotivación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D95F0E"/>
                          </a:solidFill>
                          <a:latin typeface="Calibri"/>
                        </a:rPr>
                        <a:t>24,0 %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D95F0E"/>
                          </a:solidFill>
                          <a:latin typeface="Calibri"/>
                        </a:rPr>
                        <a:t>51,7 %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5212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Cada grupo de riesgo se define por UN hábito débil dominante → una palanca de intervención concreta. El grupo de alto desempeño es el perfil-meta.</a:t>
            </a:r>
          </a:p>
        </p:txBody>
      </p:sp>
      <p:pic>
        <p:nvPicPr>
          <p:cNvPr id="8" name="Picture 7" descr="clustering_perfile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54446"/>
            <a:ext cx="5806440" cy="30463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TAREA DESCRIPTIVA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Validación de los grupos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Silueta baja (0,063) → confirma el test de Hopkins: no hay separación geométrica.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Pero las notas (que nunca entraron al modelo) validan los grupos ex post: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606060"/>
                </a:solidFill>
                <a:latin typeface="Calibri"/>
              </a:rPr>
              <a:t>–  La reprobación difiere de 18 % a 52 % entre grupos.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606060"/>
                </a:solidFill>
                <a:latin typeface="Calibri"/>
              </a:rPr>
              <a:t>–  La nota previa es idéntica en los cuatro (69,8–69,9): se agrupó por hábitos, no por historial.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Conclusión: partición operativa útil para focalizar programas — no "tipos naturales" de estudiantes.</a:t>
            </a:r>
          </a:p>
        </p:txBody>
      </p:sp>
      <p:pic>
        <p:nvPicPr>
          <p:cNvPr id="7" name="Picture 6" descr="fig_6_5_variables_re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11899"/>
            <a:ext cx="5577840" cy="25314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Modelo predictivo →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Entregable: un SISTEMA (tarea predictiva → sistema).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Sistema de consola: modo interactivo, por lote (CSV) o demo.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Demo web autocontenida: replica el modelo en el navegador, con autotest 4/4 vs. Python.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Salida por estudiante: P(reprobar) + alerta + perfil conductual + acción sugerida.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▪  Umbral de alerta ajustable según los cupos de tutoría disponibles.</a:t>
            </a:r>
          </a:p>
        </p:txBody>
      </p:sp>
      <p:pic>
        <p:nvPicPr>
          <p:cNvPr id="7" name="Picture 6" descr="demo_02_caso_B_desmotivado_al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199" y="1783080"/>
            <a:ext cx="3624722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Modelo descriptivo → informe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Entregable: un INFORME (tarea descriptiva → informe).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Informe de Segmentación Conductual con el catálogo de intervención por grupo: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 i="0">
                <a:solidFill>
                  <a:srgbClr val="606060"/>
                </a:solidFill>
                <a:latin typeface="Calibri"/>
              </a:rPr>
              <a:t>–  Desmotivación → programa motivacional · Gestión del tiempo → taller de organización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 i="0">
                <a:solidFill>
                  <a:srgbClr val="606060"/>
                </a:solidFill>
                <a:latin typeface="Calibri"/>
              </a:rPr>
              <a:t>–  Apuntes → técnicas de estudio · Alto desempeño → mentoría de pares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Análisis de riesgo: conviene operar pese al solapamiento — el costo del error es bajo y benigno.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Uso responsable: los perfiles priorizan apoyo, no etiquetan; la decisión final es del orientador.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CRISP-DM estructuró todo 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isp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42300"/>
            <a:ext cx="6583680" cy="387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2103120"/>
            <a:ext cx="44805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Las 6 fases</a:t>
            </a:r>
          </a:p>
          <a:p>
            <a:pPr algn="l">
              <a:spcAft>
                <a:spcPts val="14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Comprensión del negocio → Entendimiento de datos → Preparación → Modelado → Evaluación → Despliegue.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6DA4"/>
                </a:solidFill>
                <a:latin typeface="Calibri"/>
              </a:rPr>
              <a:t>Proceso iterativo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No fue lineal: la vista de clustering se iteró tres veces y el test de Hopkins se incorporó en la revisión de procesos, sin alterar las conclusiones.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6DA4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 Light"/>
              </a:rPr>
              <a:t>Lo que dejó 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2743200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Objetivo cumplido: se anticipa la reprobación solo con hábitos (Naïve Bayes 80,2 % · recall Fail 81,2 %).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Factores clave: horas de estudio, gestión del tiempo, motivación y cumplimiento de tareas.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Segmentación: cuatro perfiles operativos, validados por resultado (reprobación 18 % → 52 %).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Lección metodológica: el ajuste entre supuestos y datos pesa más que la sofisticación del modelo.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Los supuestos se verifican, no se asumen (test de Hopkins antes de agrupar).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▪  Limitaciones: datos sintéticos → validar con un piloto real. Uso responsable de la 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6060"/>
                </a:solidFill>
                <a:latin typeface="Calibri"/>
              </a:rPr>
              <a:t>Minería de Datos · EduData Analytics · Inteligencia de Negocios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0606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30480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¿Preguntas?</a:t>
            </a:r>
          </a:p>
          <a:p>
            <a:pPr algn="l">
              <a:spcAft>
                <a:spcPts val="0"/>
              </a:spcAft>
            </a:pPr>
            <a:r>
              <a:rPr sz="2200" b="0" i="1">
                <a:solidFill>
                  <a:srgbClr val="CFDDEC"/>
                </a:solidFill>
                <a:latin typeface="Calibri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Alexander Farías · Joaquín Ortiz · Benjamín Muñoz · Amin Carrizo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FC3D9"/>
                </a:solidFill>
                <a:latin typeface="Calibri"/>
              </a:rPr>
              <a:t>Proyecto de Minería de Datos — EduData Analytics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